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362" r:id="rId3"/>
    <p:sldId id="505" r:id="rId4"/>
    <p:sldId id="443" r:id="rId5"/>
    <p:sldId id="499" r:id="rId6"/>
    <p:sldId id="477" r:id="rId7"/>
    <p:sldId id="478" r:id="rId8"/>
    <p:sldId id="500" r:id="rId9"/>
    <p:sldId id="501" r:id="rId10"/>
    <p:sldId id="502" r:id="rId11"/>
    <p:sldId id="503" r:id="rId12"/>
    <p:sldId id="504" r:id="rId13"/>
    <p:sldId id="506" r:id="rId14"/>
    <p:sldId id="507" r:id="rId15"/>
    <p:sldId id="508" r:id="rId16"/>
    <p:sldId id="509" r:id="rId17"/>
    <p:sldId id="510" r:id="rId18"/>
    <p:sldId id="511" r:id="rId19"/>
    <p:sldId id="512" r:id="rId20"/>
    <p:sldId id="514" r:id="rId21"/>
    <p:sldId id="515" r:id="rId22"/>
    <p:sldId id="513" r:id="rId23"/>
    <p:sldId id="516" r:id="rId24"/>
    <p:sldId id="517" r:id="rId25"/>
    <p:sldId id="518" r:id="rId26"/>
    <p:sldId id="353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30" autoAdjust="0"/>
    <p:restoredTop sz="94726"/>
  </p:normalViewPr>
  <p:slideViewPr>
    <p:cSldViewPr>
      <p:cViewPr varScale="1">
        <p:scale>
          <a:sx n="123" d="100"/>
          <a:sy n="123" d="100"/>
        </p:scale>
        <p:origin x="3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6" d="100"/>
          <a:sy n="36" d="100"/>
        </p:scale>
        <p:origin x="-28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AFE1B71-DA8E-ACF3-90E1-119B2F7905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en-US"/>
              <a:t>Amity Business School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7823DD0-1AFE-7C2F-E7C8-1E940F3A16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3815ED1D-9C87-D74D-F2FE-3250C9DA615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D3F1B49F-DE3C-0C16-6223-3DA6DBEDDB5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1803DE-6D60-914D-A4C0-D9FB7E620C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C0EF7A8-D444-B4FE-25DA-9CB1F87C446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en-US"/>
              <a:t>Amity Business School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91271C0-CA0C-D11D-FCAC-82F43781C97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81ACF50-9623-8148-388C-CDECB108587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957AC73-4220-2CF7-A737-39EDC677F09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5943600"/>
            <a:ext cx="5486400" cy="2514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88010D87-4B73-09A3-4FB5-B4A5D73B61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48779FF-152B-D91A-A53F-7C1EC78EC1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CC5E6AB-A637-7044-BA94-0BB8080103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15B6350-7D15-5CC7-6878-7E5474BC0F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Amity Business School</a:t>
            </a:r>
          </a:p>
        </p:txBody>
      </p:sp>
      <p:sp>
        <p:nvSpPr>
          <p:cNvPr id="16386" name="Rectangle 7">
            <a:extLst>
              <a:ext uri="{FF2B5EF4-FFF2-40B4-BE49-F238E27FC236}">
                <a16:creationId xmlns:a16="http://schemas.microsoft.com/office/drawing/2014/main" id="{9F076783-6185-880E-FF3A-EF5A76369C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4A705E-76C3-F349-9C51-AAD353ADDAC5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A7A0438-C327-0981-1AC5-45072E9C0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D3A0FD4-81F4-DE93-B543-D49DA738D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33B1-FEDD-AB40-5C37-CA2EE690B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4430009-384C-3795-6054-0767A76A96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Amity Business School</a:t>
            </a:r>
          </a:p>
        </p:txBody>
      </p:sp>
      <p:sp>
        <p:nvSpPr>
          <p:cNvPr id="16386" name="Rectangle 7">
            <a:extLst>
              <a:ext uri="{FF2B5EF4-FFF2-40B4-BE49-F238E27FC236}">
                <a16:creationId xmlns:a16="http://schemas.microsoft.com/office/drawing/2014/main" id="{C956EEA6-3027-A9FF-4BBA-30985C0D5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4A705E-76C3-F349-9C51-AAD353ADDAC5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AB020D7-5C23-8D7B-6078-2641502B54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0691DAC-995D-2910-A160-1DE32447C5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452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5D9C-38DC-D3AA-2189-678D483DE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3767993-D527-5E62-A7C8-BA04FDD90C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Amity Business School</a:t>
            </a:r>
          </a:p>
        </p:txBody>
      </p:sp>
      <p:sp>
        <p:nvSpPr>
          <p:cNvPr id="16386" name="Rectangle 7">
            <a:extLst>
              <a:ext uri="{FF2B5EF4-FFF2-40B4-BE49-F238E27FC236}">
                <a16:creationId xmlns:a16="http://schemas.microsoft.com/office/drawing/2014/main" id="{58286694-A1B1-3FB4-ADE4-4B4CE46636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4A705E-76C3-F349-9C51-AAD353ADDAC5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413C0A8-A747-6B2E-2BEF-1E90D27964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E9EBDAE-238D-AED5-4EE7-ED3961B37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6495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92D1BE-D25E-791F-1A88-C9B8AC7F4B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4B03E-EDD9-5542-A3A5-E4559B0CCC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34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93D765-E715-3074-EB72-3617460669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37E41-9E00-5440-A21E-7469353E70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622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1FF278A-BF62-ACA1-DC1F-B3712DD8B8B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F9D6C-C199-794E-A8FA-4B91FACF3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39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B35066-0B36-7B0C-05E9-5EDE6A327F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5B0E2-FD7B-AA4B-ACF9-DC75B5AF80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253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C1E975-14C3-B5F2-E3D6-8D459CFB28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C73DB-1ECF-6B46-88A0-029B0D05DC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450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FFA502-7748-00C5-F74D-5D12A781CB7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01D35-74C5-5742-AE71-C0783F09D6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6881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67E3EA3-A8CE-32EC-F82A-6E9E050F18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90F62-3C9F-CB49-BDE1-366AC12D7F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42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1A906A-6652-8805-8471-3F13441785E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F2B37-2D5E-2440-8351-BAB7F5E331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21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742B6B0-4477-4A00-58F9-BF6DCC4313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0F21D8-CC30-8648-8D5A-43CDD94902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5140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4DA2EF0-02EC-7DAB-D59E-2FFEF24C53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371CD-6DE0-9848-8BA1-F7991CD1E6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96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83BF33A-B429-BB47-627A-3A21A7BCE3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A9B9AF-8D60-5E47-B040-B28C4D79BB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34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8">
            <a:extLst>
              <a:ext uri="{FF2B5EF4-FFF2-40B4-BE49-F238E27FC236}">
                <a16:creationId xmlns:a16="http://schemas.microsoft.com/office/drawing/2014/main" id="{15385228-6E92-27A3-8F51-448F9456F8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65"/>
          <a:stretch>
            <a:fillRect/>
          </a:stretch>
        </p:blipFill>
        <p:spPr bwMode="auto">
          <a:xfrm>
            <a:off x="3175" y="3175"/>
            <a:ext cx="913765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ECDA3EFE-6B21-69B1-9304-B243354987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99263" y="6400800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pPr>
              <a:defRPr/>
            </a:pPr>
            <a:fld id="{A629E020-9C2C-DA41-9A87-2C48DDB7BC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7E49CF28-B4FC-621F-7AE3-62DA64874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863" y="695325"/>
            <a:ext cx="4191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r" eaLnBrk="1" hangingPunct="1">
              <a:defRPr/>
            </a:pPr>
            <a:r>
              <a:rPr lang="en-US" altLang="en-US" sz="1050" b="1" dirty="0">
                <a:solidFill>
                  <a:schemeClr val="accent2"/>
                </a:solidFill>
              </a:rPr>
              <a:t>AMITY INSTITUTE OF INFORMATION TECHNOLOGY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48678984-9775-3A2F-EA45-3D96AD79B21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38400" y="6705600"/>
            <a:ext cx="6705600" cy="152400"/>
          </a:xfrm>
          <a:prstGeom prst="rect">
            <a:avLst/>
          </a:prstGeom>
          <a:solidFill>
            <a:srgbClr val="F1B43B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rinket.io/java/20b85214436e" TargetMode="External"/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rinket.io/java/e93466507ec9" TargetMode="External"/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trinket.io/java/1651f69597f3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>
            <a:extLst>
              <a:ext uri="{FF2B5EF4-FFF2-40B4-BE49-F238E27FC236}">
                <a16:creationId xmlns:a16="http://schemas.microsoft.com/office/drawing/2014/main" id="{652415BE-4660-F41D-0A59-CD81D50210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14400" y="1371600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Dictionaries and Hashing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CSE645 (PG)</a:t>
            </a:r>
            <a:b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(Advanced Data Structures MODULE I)</a:t>
            </a: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endParaRPr lang="en-US" altLang="en-US" sz="25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9757C025-9C81-1150-8889-7494EBDA2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BA29FB-FCCE-0B47-8A11-59E213BA79A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AA355-D7FC-4A03-918F-4B98F2636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78486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Topics Covered</a:t>
            </a:r>
            <a:r>
              <a:rPr lang="en-US" b="0" i="0" dirty="0">
                <a:solidFill>
                  <a:srgbClr val="FF0000"/>
                </a:solidFill>
                <a:effectLst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2060"/>
                </a:solidFill>
              </a:rPr>
              <a:t>Dictionaries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B050"/>
                </a:solidFill>
              </a:rPr>
              <a:t>Dictionary Abstract Data Type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B050"/>
                </a:solidFill>
              </a:rPr>
              <a:t>Implementation of Dictionaries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2060"/>
                </a:solidFill>
              </a:rPr>
              <a:t>Hashing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B050"/>
                </a:solidFill>
              </a:rPr>
              <a:t>Review of Hashing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B050"/>
                </a:solidFill>
              </a:rPr>
              <a:t>Hash Function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B050"/>
                </a:solidFill>
              </a:rPr>
              <a:t>Collision Resolution Techniques in Hashing:</a:t>
            </a:r>
          </a:p>
          <a:p>
            <a:pPr lvl="2" algn="just">
              <a:buFont typeface="Wingdings" pitchFamily="2" charset="2"/>
              <a:buChar char="§"/>
            </a:pPr>
            <a:r>
              <a:rPr lang="en-US" dirty="0">
                <a:solidFill>
                  <a:srgbClr val="7030A0"/>
                </a:solidFill>
              </a:rPr>
              <a:t>Separate Chaining, Open Addressing, Linear Probing, Quadratic Probing, Double Hashing, Rehashing, Extendible Hashing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33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CDC1-20B2-67A5-E382-722441F3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>
            <a:extLst>
              <a:ext uri="{FF2B5EF4-FFF2-40B4-BE49-F238E27FC236}">
                <a16:creationId xmlns:a16="http://schemas.microsoft.com/office/drawing/2014/main" id="{7A75EDF5-2893-233D-AED3-55283A5460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14400" y="195897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Dictionaries Basics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CSE645 (PG)</a:t>
            </a:r>
            <a:b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(Advanced Data Structures MODULE I)</a:t>
            </a: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endParaRPr lang="en-US" altLang="en-US" sz="25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FCDE1934-FCE6-1670-4AFC-9A2980053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BA29FB-FCCE-0B47-8A11-59E213BA79A3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501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38A0-8C51-BABE-21A3-FD091CA9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j-lt"/>
              </a:rPr>
              <a:t>Dictionary: Definition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5049A-D8DE-8CA5-0A10-9C68D96806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940302"/>
                <a:ext cx="8458200" cy="48307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400" dirty="0">
                    <a:solidFill>
                      <a:srgbClr val="002060"/>
                    </a:solidFill>
                  </a:rPr>
                  <a:t>A Dictionary is a fundamental data structure that stores </a:t>
                </a:r>
                <a:r>
                  <a:rPr lang="en-US" sz="2400" dirty="0">
                    <a:solidFill>
                      <a:srgbClr val="C00000"/>
                    </a:solidFill>
                  </a:rPr>
                  <a:t>data items as key–value pairs</a:t>
                </a:r>
                <a:r>
                  <a:rPr lang="en-US" sz="2400" dirty="0">
                    <a:solidFill>
                      <a:srgbClr val="002060"/>
                    </a:solidFill>
                  </a:rPr>
                  <a:t>, where each </a:t>
                </a:r>
                <a:r>
                  <a:rPr lang="en-US" sz="2400" dirty="0">
                    <a:solidFill>
                      <a:srgbClr val="00B050"/>
                    </a:solidFill>
                  </a:rPr>
                  <a:t>key is unique </a:t>
                </a:r>
                <a:r>
                  <a:rPr lang="en-US" sz="2400" dirty="0">
                    <a:solidFill>
                      <a:srgbClr val="002060"/>
                    </a:solidFill>
                  </a:rPr>
                  <a:t>and is used to access its associated value efficiently.</a:t>
                </a:r>
              </a:p>
              <a:p>
                <a:pPr marL="0" indent="0" algn="just">
                  <a:buNone/>
                </a:pPr>
                <a:r>
                  <a:rPr lang="en-US" sz="2400" b="1" u="sng" dirty="0">
                    <a:solidFill>
                      <a:srgbClr val="002060"/>
                    </a:solidFill>
                  </a:rPr>
                  <a:t>Formal Definition</a:t>
                </a:r>
              </a:p>
              <a:p>
                <a:pPr marL="0" indent="0" algn="just">
                  <a:buNone/>
                </a:pPr>
                <a:r>
                  <a:rPr lang="en-IN" sz="2400" dirty="0"/>
                  <a:t>A dictionary is a collection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sz="2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​,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  <m:r>
                            <a:rPr lang="en-I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I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sz="2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​,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  <m:r>
                            <a:rPr lang="en-I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d>
                            <m:dPr>
                              <m:ctrlPr>
                                <a:rPr lang="en-I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sz="2400" i="1" dirty="0" err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I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​,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400" i="1" dirty="0" err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I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such that:</a:t>
                </a:r>
              </a:p>
              <a:p>
                <a:pPr lvl="1"/>
                <a:r>
                  <a:rPr lang="en-IN" sz="2000" dirty="0"/>
                  <a:t>Each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is </a:t>
                </a:r>
                <a:r>
                  <a:rPr lang="en-IN" sz="2000" b="1" dirty="0"/>
                  <a:t>distinct</a:t>
                </a:r>
                <a:endParaRPr lang="en-IN" sz="2000" dirty="0"/>
              </a:p>
              <a:p>
                <a:pPr lvl="1"/>
                <a:r>
                  <a:rPr lang="en-IN" sz="2000" dirty="0"/>
                  <a:t>Each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 is associated with exactly one key.</a:t>
                </a:r>
              </a:p>
              <a:p>
                <a:pPr marL="0" indent="0" algn="just">
                  <a:buNone/>
                </a:pPr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5049A-D8DE-8CA5-0A10-9C68D96806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940302"/>
                <a:ext cx="8458200" cy="4830763"/>
              </a:xfrm>
              <a:blipFill>
                <a:blip r:embed="rId2"/>
                <a:stretch>
                  <a:fillRect l="-1201" t="-1047" r="-1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212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C674-8AE1-D47F-81A1-6AE2A0C9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5BE9-1352-376A-B38E-CCA27A8C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j-lt"/>
              </a:rPr>
              <a:t>Significance of Dictionary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CD306-5954-523F-01BD-EBDB9B51A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40302"/>
            <a:ext cx="8458200" cy="4830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u="sng" dirty="0">
                <a:solidFill>
                  <a:srgbClr val="002060"/>
                </a:solidFill>
              </a:rPr>
              <a:t>Characteristics: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</a:rPr>
              <a:t>Supports </a:t>
            </a:r>
            <a:r>
              <a:rPr lang="en-US" sz="2000" dirty="0">
                <a:solidFill>
                  <a:srgbClr val="FF0000"/>
                </a:solidFill>
              </a:rPr>
              <a:t>fast search, insertion, and deletion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</a:rPr>
              <a:t>Keys can be of various types (integers, strings, objects)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</a:rPr>
              <a:t>Values can be simple or complex data types</a:t>
            </a:r>
            <a:endParaRPr lang="en-US" sz="2400" b="1" u="sng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en-US" sz="2400" b="1" u="sng" dirty="0">
                <a:solidFill>
                  <a:srgbClr val="002060"/>
                </a:solidFill>
              </a:rPr>
              <a:t>Key Advantages:</a:t>
            </a:r>
          </a:p>
          <a:p>
            <a:pPr marL="0" indent="0">
              <a:buNone/>
            </a:pPr>
            <a:r>
              <a:rPr lang="en-IN" sz="2400" b="1" dirty="0"/>
              <a:t>1. Fast Data Retrieval</a:t>
            </a:r>
          </a:p>
          <a:p>
            <a:pPr lvl="1"/>
            <a:r>
              <a:rPr lang="en-IN" sz="2000" dirty="0"/>
              <a:t>Dictionaries allow </a:t>
            </a:r>
            <a:r>
              <a:rPr lang="en-IN" sz="2000" b="1" dirty="0"/>
              <a:t>direct access using keys</a:t>
            </a:r>
            <a:endParaRPr lang="en-IN" sz="2000" dirty="0"/>
          </a:p>
          <a:p>
            <a:pPr lvl="1"/>
            <a:r>
              <a:rPr lang="en-IN" sz="2000" dirty="0"/>
              <a:t>Avoids scanning entire data collections</a:t>
            </a:r>
          </a:p>
          <a:p>
            <a:pPr marL="0" indent="0" algn="just">
              <a:buNone/>
            </a:pPr>
            <a:r>
              <a:rPr lang="en-IN" sz="2400" b="1" dirty="0"/>
              <a:t>2. Better Performance Than Linear Structures</a:t>
            </a:r>
            <a:endParaRPr lang="en-US" sz="2400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D19C454-9305-720F-77A3-1994D0E9D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492471"/>
              </p:ext>
            </p:extLst>
          </p:nvPr>
        </p:nvGraphicFramePr>
        <p:xfrm>
          <a:off x="1524000" y="5562600"/>
          <a:ext cx="4533900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033510465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4220917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Search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4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Array/List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187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Dictionary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O(1) or O(log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55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19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84B88-1811-1FDF-D43C-0D473769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DE81-3EB5-8E77-88BF-F80AA8EC2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j-lt"/>
              </a:rPr>
              <a:t>Dictionary: Real World Examples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BFE67-3B73-2394-4E5F-6BE5DA366658}"/>
              </a:ext>
            </a:extLst>
          </p:cNvPr>
          <p:cNvSpPr txBox="1"/>
          <p:nvPr/>
        </p:nvSpPr>
        <p:spPr>
          <a:xfrm>
            <a:off x="595745" y="1905000"/>
            <a:ext cx="8077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1. Symbol Table in Compilers </a:t>
            </a:r>
            <a:r>
              <a:rPr lang="en-IN" b="1" dirty="0"/>
              <a:t>(Key → Value)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Key:</a:t>
            </a:r>
            <a:r>
              <a:rPr lang="en-IN" dirty="0"/>
              <a:t> Variable / Function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Value:</a:t>
            </a:r>
            <a:r>
              <a:rPr lang="en-IN" dirty="0"/>
              <a:t> Data type, scope, memory address, attributes</a:t>
            </a:r>
          </a:p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2. Database Indexing </a:t>
            </a:r>
            <a:r>
              <a:rPr lang="en-IN" b="1" dirty="0"/>
              <a:t>(Key → Value)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Key:</a:t>
            </a:r>
            <a:r>
              <a:rPr lang="en-IN" dirty="0"/>
              <a:t> Primary key or indexed column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Value:</a:t>
            </a:r>
            <a:r>
              <a:rPr lang="en-IN" dirty="0"/>
              <a:t> Pointer to the record location</a:t>
            </a:r>
          </a:p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3. Phone Directory / Contact List </a:t>
            </a:r>
            <a:r>
              <a:rPr lang="en-IN" b="1" dirty="0"/>
              <a:t>(Key → Value)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Key:</a:t>
            </a:r>
            <a:r>
              <a:rPr lang="en-IN" dirty="0"/>
              <a:t> Person’s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Value:</a:t>
            </a:r>
            <a:r>
              <a:rPr lang="en-IN" dirty="0"/>
              <a:t> Phone number(s), address</a:t>
            </a:r>
          </a:p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4. E-commerce Product Lookup </a:t>
            </a:r>
            <a:r>
              <a:rPr lang="en-IN" b="1" dirty="0"/>
              <a:t>(Key → Value)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Key:</a:t>
            </a:r>
            <a:r>
              <a:rPr lang="en-IN" dirty="0"/>
              <a:t> Product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Value:</a:t>
            </a:r>
            <a:r>
              <a:rPr lang="en-IN" dirty="0"/>
              <a:t> Price, stock, description</a:t>
            </a:r>
          </a:p>
        </p:txBody>
      </p:sp>
    </p:spTree>
    <p:extLst>
      <p:ext uri="{BB962C8B-B14F-4D97-AF65-F5344CB8AC3E}">
        <p14:creationId xmlns:p14="http://schemas.microsoft.com/office/powerpoint/2010/main" val="2285032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24342-2FB6-0A16-5B68-C4547FC1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2A0E-FDB2-A3F6-454A-4F3E13F9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j-lt"/>
              </a:rPr>
              <a:t>Dictionary: Abstract Data Type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2204C-1897-58E8-06C6-23560CA48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40302"/>
            <a:ext cx="8458200" cy="48307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rgbClr val="002060"/>
                </a:solidFill>
              </a:rPr>
              <a:t>An Abstract Data Type (ADT) is a logical or mathematical model of a data structure that defines </a:t>
            </a:r>
            <a:r>
              <a:rPr lang="en-US" sz="2400" dirty="0">
                <a:solidFill>
                  <a:srgbClr val="FF0000"/>
                </a:solidFill>
              </a:rPr>
              <a:t>what operations can be performed on the data, without specifying how those operations are implemented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IN" sz="2400" b="1" u="sng" dirty="0"/>
              <a:t>Formal Definition</a:t>
            </a:r>
          </a:p>
          <a:p>
            <a:pPr marL="0" indent="0">
              <a:buNone/>
            </a:pPr>
            <a:r>
              <a:rPr lang="en-IN" sz="2400" dirty="0"/>
              <a:t>An Abstract Data Type is defined by:</a:t>
            </a:r>
          </a:p>
          <a:p>
            <a:pPr lvl="1"/>
            <a:r>
              <a:rPr lang="en-IN" sz="2000" b="1" dirty="0"/>
              <a:t>Data objects</a:t>
            </a:r>
            <a:r>
              <a:rPr lang="en-IN" sz="2000" dirty="0"/>
              <a:t> (values it can store)</a:t>
            </a:r>
          </a:p>
          <a:p>
            <a:pPr lvl="1"/>
            <a:r>
              <a:rPr lang="en-IN" sz="2000" b="1" dirty="0"/>
              <a:t>Operations</a:t>
            </a:r>
            <a:r>
              <a:rPr lang="en-IN" sz="2000" dirty="0"/>
              <a:t> that can be performed on those data objects</a:t>
            </a:r>
          </a:p>
          <a:p>
            <a:pPr lvl="1"/>
            <a:r>
              <a:rPr lang="en-IN" sz="2000" b="1" dirty="0"/>
              <a:t>Rules/ </a:t>
            </a:r>
            <a:r>
              <a:rPr lang="en-IN" sz="2000" b="1" dirty="0" err="1"/>
              <a:t>behavior</a:t>
            </a:r>
            <a:r>
              <a:rPr lang="en-IN" sz="2000" dirty="0"/>
              <a:t> of those operations</a:t>
            </a:r>
          </a:p>
          <a:p>
            <a:pPr marL="0" indent="0">
              <a:buNone/>
            </a:pPr>
            <a:r>
              <a:rPr lang="en-IN" sz="2400" b="1" dirty="0"/>
              <a:t>Implementation details are hidden</a:t>
            </a:r>
            <a:r>
              <a:rPr lang="en-IN" sz="2400" dirty="0"/>
              <a:t>.</a:t>
            </a:r>
          </a:p>
          <a:p>
            <a:pPr marL="0" indent="0" algn="just">
              <a:buNone/>
            </a:pPr>
            <a:endParaRPr lang="en-US" sz="2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81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A8B1-C784-990D-65C3-7668B5BF1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6E6C-8F77-7F89-86DA-A2BC23AA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j-lt"/>
              </a:rPr>
              <a:t>Dictionary: Abstract Data Type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49437-E802-7B33-1403-4D0F754B1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40302"/>
            <a:ext cx="8458200" cy="48307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rgbClr val="002060"/>
                </a:solidFill>
              </a:rPr>
              <a:t>The Dictionary ADT specifies what operations are supported by the dictionary without defining how they are implemented.</a:t>
            </a:r>
          </a:p>
          <a:p>
            <a:pPr marL="0" indent="0">
              <a:buNone/>
            </a:pPr>
            <a:r>
              <a:rPr lang="en-IN" sz="2400" b="1" u="sng" dirty="0"/>
              <a:t>Core Operations:</a:t>
            </a:r>
          </a:p>
          <a:p>
            <a:pPr marL="0" indent="0" algn="just">
              <a:buNone/>
            </a:pPr>
            <a:endParaRPr lang="en-US" sz="2200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0D05B2-D3F1-32B7-0A0B-F7FBFF2E0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841564"/>
              </p:ext>
            </p:extLst>
          </p:nvPr>
        </p:nvGraphicFramePr>
        <p:xfrm>
          <a:off x="952500" y="3733800"/>
          <a:ext cx="7239000" cy="256032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32831548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5055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</a:rPr>
                        <a:t>insert(k, v)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Inserts a key–value pair into the dictionary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13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</a:rPr>
                        <a:t>delete(k)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Removes the entry with key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k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91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</a:rPr>
                        <a:t>search(k)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the value associated with key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k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343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</a:rPr>
                        <a:t>update(k, v)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Updates the value for an existing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978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</a:rPr>
                        <a:t>contains(k)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Checks whether key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k</a:t>
                      </a:r>
                      <a:r>
                        <a:rPr lang="en-IN"/>
                        <a:t> exists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323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</a:rPr>
                        <a:t>size()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number of entries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270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</a:rPr>
                        <a:t>isEmpty()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if dictionary is empty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733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23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D756A-229D-B8C5-7F59-B8F1EBB4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65049-07C6-B8F2-C340-9C170BF7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j-lt"/>
              </a:rPr>
              <a:t>Implementation of Dictionary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6E6B2-63FC-65E4-1224-E7E0AD11E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40302"/>
            <a:ext cx="8458200" cy="4830763"/>
          </a:xfrm>
        </p:spPr>
        <p:txBody>
          <a:bodyPr>
            <a:normAutofit lnSpcReduction="10000"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sz="2000" dirty="0">
                <a:solidFill>
                  <a:srgbClr val="002060"/>
                </a:solidFill>
              </a:rPr>
              <a:t>The abstract nature of the dictionary means it can be implemented using various concrete data structures, each offering different performance trade-offs in terms of time complexity: </a:t>
            </a:r>
          </a:p>
          <a:p>
            <a:pPr marL="400050" lvl="1" indent="0" algn="just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2060"/>
                </a:solidFill>
              </a:rPr>
              <a:t>1. Hash Table: </a:t>
            </a:r>
            <a:r>
              <a:rPr lang="en-US" sz="2000" dirty="0">
                <a:solidFill>
                  <a:srgbClr val="002060"/>
                </a:solidFill>
              </a:rPr>
              <a:t>The most common implementation, offering average </a:t>
            </a:r>
            <a:r>
              <a:rPr lang="en-US" sz="2000" dirty="0">
                <a:solidFill>
                  <a:srgbClr val="FF0000"/>
                </a:solidFill>
              </a:rPr>
              <a:t>constant time (O(1)) for insert, find, and delete</a:t>
            </a:r>
            <a:r>
              <a:rPr lang="en-US" sz="2000" dirty="0">
                <a:solidFill>
                  <a:srgbClr val="002060"/>
                </a:solidFill>
              </a:rPr>
              <a:t> operations.</a:t>
            </a:r>
          </a:p>
          <a:p>
            <a:pPr marL="400050" lvl="1" indent="0" algn="just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2060"/>
                </a:solidFill>
              </a:rPr>
              <a:t>2. Search Tree (e.g., Binary Search Tree (BST)): </a:t>
            </a:r>
            <a:r>
              <a:rPr lang="en-US" sz="2000" dirty="0">
                <a:solidFill>
                  <a:srgbClr val="002060"/>
                </a:solidFill>
              </a:rPr>
              <a:t>Provides </a:t>
            </a:r>
            <a:r>
              <a:rPr lang="en-US" sz="2000" dirty="0">
                <a:solidFill>
                  <a:srgbClr val="FF0000"/>
                </a:solidFill>
              </a:rPr>
              <a:t>logarithmic time complexity (O(log n)) for operations </a:t>
            </a:r>
            <a:r>
              <a:rPr lang="en-US" sz="2000" dirty="0">
                <a:solidFill>
                  <a:srgbClr val="002060"/>
                </a:solidFill>
              </a:rPr>
              <a:t>and maintains order among the keys.</a:t>
            </a:r>
          </a:p>
          <a:p>
            <a:pPr marL="400050" lvl="1" indent="0" algn="just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2060"/>
                </a:solidFill>
              </a:rPr>
              <a:t>3. Unsorted List/Array: </a:t>
            </a:r>
            <a:r>
              <a:rPr lang="en-US" sz="2000" dirty="0">
                <a:solidFill>
                  <a:srgbClr val="002060"/>
                </a:solidFill>
              </a:rPr>
              <a:t>Operations require </a:t>
            </a:r>
            <a:r>
              <a:rPr lang="en-US" sz="2000" dirty="0">
                <a:solidFill>
                  <a:srgbClr val="FF0000"/>
                </a:solidFill>
              </a:rPr>
              <a:t>linear time (O(n)) in the worst case </a:t>
            </a:r>
            <a:r>
              <a:rPr lang="en-US" sz="2000" dirty="0">
                <a:solidFill>
                  <a:srgbClr val="002060"/>
                </a:solidFill>
              </a:rPr>
              <a:t>because a sequential search is needed.</a:t>
            </a:r>
          </a:p>
          <a:p>
            <a:pPr marL="400050" lvl="1" indent="0" algn="just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2060"/>
                </a:solidFill>
              </a:rPr>
              <a:t>4. Sorted Array: </a:t>
            </a:r>
            <a:r>
              <a:rPr lang="en-US" sz="2000" dirty="0">
                <a:solidFill>
                  <a:srgbClr val="002060"/>
                </a:solidFill>
              </a:rPr>
              <a:t>Allows </a:t>
            </a:r>
            <a:r>
              <a:rPr lang="en-US" sz="2000" dirty="0">
                <a:solidFill>
                  <a:srgbClr val="FF0000"/>
                </a:solidFill>
              </a:rPr>
              <a:t>faster searching using binary search (O(log n))</a:t>
            </a:r>
            <a:r>
              <a:rPr lang="en-US" sz="2000" dirty="0">
                <a:solidFill>
                  <a:srgbClr val="002060"/>
                </a:solidFill>
              </a:rPr>
              <a:t>, but </a:t>
            </a:r>
            <a:r>
              <a:rPr lang="en-US" sz="2000" dirty="0">
                <a:solidFill>
                  <a:srgbClr val="FF0000"/>
                </a:solidFill>
              </a:rPr>
              <a:t>insertion and removal are slower (O(n)) </a:t>
            </a:r>
            <a:r>
              <a:rPr lang="en-US" sz="2000" dirty="0">
                <a:solidFill>
                  <a:srgbClr val="002060"/>
                </a:solidFill>
              </a:rPr>
              <a:t>due to the need to shift elements.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078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6CEF9-9891-E34F-B93B-3FD3EAA2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E277-6462-5AAB-4CAA-F6C1337AB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Dictionary: Array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8C72E-E32E-B7B2-F633-1FDAD12F4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40302"/>
            <a:ext cx="8458200" cy="4830763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Key–value pairs stored in an array (ArrayList in Java).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</a:rPr>
              <a:t>Search, Insert and Delete requires O(n) time complexity (worst case).</a:t>
            </a:r>
            <a:endParaRPr lang="en-US" sz="2000" dirty="0">
              <a:solidFill>
                <a:srgbClr val="FF000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000" dirty="0"/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2400" dirty="0">
                <a:hlinkClick r:id="rId2"/>
              </a:rPr>
              <a:t>Click here for code…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4849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00BD-FC3B-B519-C3FB-B51A00968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6BB5-C1CF-65D5-9695-E4813FA7A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974292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Dictionary: Hash Table Implementation (Most common)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50DD6-2766-F3EF-2CC7-2C9F3AD26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891" y="2209800"/>
            <a:ext cx="8458200" cy="4830763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Uses hashing for constant-time access.</a:t>
            </a: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2400" dirty="0">
                <a:hlinkClick r:id="rId3"/>
              </a:rPr>
              <a:t>Click here for code…</a:t>
            </a: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EEDDE8-C27E-0DF3-FD71-9072918F4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688768"/>
              </p:ext>
            </p:extLst>
          </p:nvPr>
        </p:nvGraphicFramePr>
        <p:xfrm>
          <a:off x="1924916" y="2743200"/>
          <a:ext cx="5010150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5727705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675654067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834048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Average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Worst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713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O(1)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O(n)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215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O(1)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O(n)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565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O(1)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O(n)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809010"/>
                  </a:ext>
                </a:extLst>
              </a:tr>
            </a:tbl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378F921B-AB23-DBEE-B451-19C76F477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384699"/>
            <a:ext cx="815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HashMap uses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 function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compute an index.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average case, keys are well distributed → constant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worst case (many hash collisions), all keys fall into the same bucket → linear search.</a:t>
            </a:r>
          </a:p>
        </p:txBody>
      </p:sp>
    </p:spTree>
    <p:extLst>
      <p:ext uri="{BB962C8B-B14F-4D97-AF65-F5344CB8AC3E}">
        <p14:creationId xmlns:p14="http://schemas.microsoft.com/office/powerpoint/2010/main" val="2521787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63D24-F838-4A1D-B863-5927AC94C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C44C9-7ACF-FB51-6666-B127A331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Dictionary: BST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A2BA6-A42D-1BFA-6EEF-CB3A3FE24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 fontScale="92500" lnSpcReduction="10000"/>
          </a:bodyPr>
          <a:lstStyle/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In Binary Search Tree (BST), keys are stored in sorted order → ordered dictionary.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In a Binary Search Tree, </a:t>
            </a:r>
            <a:r>
              <a:rPr lang="en-US" sz="2400" dirty="0">
                <a:solidFill>
                  <a:srgbClr val="FF0000"/>
                </a:solidFill>
              </a:rPr>
              <a:t>insert, search, and delete operations take O(h) time, where h is the height of the tree.</a:t>
            </a:r>
            <a:endParaRPr lang="en-US" sz="2400" b="1" dirty="0">
              <a:solidFill>
                <a:srgbClr val="FF000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2060"/>
                </a:solidFill>
              </a:rPr>
              <a:t>		Insert				       Search</a:t>
            </a: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2600" dirty="0">
                <a:hlinkClick r:id="rId3"/>
              </a:rPr>
              <a:t>Click here for code…</a:t>
            </a:r>
            <a:endParaRPr lang="en-US" sz="2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AC9F18-84D9-0FD6-285B-39FA6C365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09970"/>
              </p:ext>
            </p:extLst>
          </p:nvPr>
        </p:nvGraphicFramePr>
        <p:xfrm>
          <a:off x="824345" y="3886200"/>
          <a:ext cx="3851563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2163">
                  <a:extLst>
                    <a:ext uri="{9D8B030D-6E8A-4147-A177-3AD203B41FA5}">
                      <a16:colId xmlns:a16="http://schemas.microsoft.com/office/drawing/2014/main" val="1831406898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551099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821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O(1)</a:t>
                      </a:r>
                      <a:r>
                        <a:rPr lang="en-IN"/>
                        <a:t> (insert at root)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838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O(log n)</a:t>
                      </a:r>
                      <a:r>
                        <a:rPr lang="en-IN"/>
                        <a:t> (balanced BST)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390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O(n)</a:t>
                      </a:r>
                      <a:r>
                        <a:rPr lang="en-IN" dirty="0"/>
                        <a:t> (skewed BST)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4286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9FE60C-6E6B-4D85-6187-85B5FA38A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098485"/>
              </p:ext>
            </p:extLst>
          </p:nvPr>
        </p:nvGraphicFramePr>
        <p:xfrm>
          <a:off x="5334000" y="3886200"/>
          <a:ext cx="3285258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1658">
                  <a:extLst>
                    <a:ext uri="{9D8B030D-6E8A-4147-A177-3AD203B41FA5}">
                      <a16:colId xmlns:a16="http://schemas.microsoft.com/office/drawing/2014/main" val="9311742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732802079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873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O(1)</a:t>
                      </a:r>
                      <a:r>
                        <a:rPr lang="en-IN"/>
                        <a:t> (key at root)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871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O(log n)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9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O(n)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377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21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F96A1-8817-807F-3AF9-D310C7BDC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>
            <a:extLst>
              <a:ext uri="{FF2B5EF4-FFF2-40B4-BE49-F238E27FC236}">
                <a16:creationId xmlns:a16="http://schemas.microsoft.com/office/drawing/2014/main" id="{3DDB6ADA-A321-94CC-1959-9C5C320680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14400" y="195897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Hashing Basics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CSE645 (PG)</a:t>
            </a:r>
            <a:b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(Advanced Data Structures MODULE I)</a:t>
            </a: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endParaRPr lang="en-US" altLang="en-US" sz="25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89C3476A-E53B-C003-2160-1840A4122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BA29FB-FCCE-0B47-8A11-59E213BA79A3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0301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48B1B-32F0-9295-9ADC-DCDC32A3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4A380-E50F-1491-F2DC-7B1A9D2D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Need of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C3CB1-B2F8-2EF5-E072-B8F672902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In data structure, we have mainly two searching techniques: linear search and binary search.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The worst time complexity in </a:t>
            </a:r>
            <a:r>
              <a:rPr lang="en-US" sz="2400" dirty="0">
                <a:solidFill>
                  <a:srgbClr val="FF0000"/>
                </a:solidFill>
              </a:rPr>
              <a:t>linear search is O(n) </a:t>
            </a:r>
            <a:r>
              <a:rPr lang="en-US" sz="2400" dirty="0">
                <a:solidFill>
                  <a:srgbClr val="002060"/>
                </a:solidFill>
              </a:rPr>
              <a:t>and </a:t>
            </a:r>
            <a:r>
              <a:rPr lang="en-US" sz="2400" dirty="0">
                <a:solidFill>
                  <a:srgbClr val="FF0000"/>
                </a:solidFill>
              </a:rPr>
              <a:t>O(log n) in binary search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In both the above searching techniques, the searching depends upon the number of elements (N), but we want the technique that takes a constant time, independent of N. 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Hashing is one of the searching techniques that uses a constant time. </a:t>
            </a:r>
            <a:r>
              <a:rPr lang="en-US" sz="2400" dirty="0">
                <a:solidFill>
                  <a:srgbClr val="FF0000"/>
                </a:solidFill>
              </a:rPr>
              <a:t>The time complexity in hashing is O(1).</a:t>
            </a: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2004796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7C9C6-C933-0F5B-66FE-E1476B8A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1285-7A1A-484B-E897-6C3C1075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Hashing Vs Other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DEA14-5D64-4790-87A9-123D4BB5B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</a:rPr>
              <a:t>Drawback of Other Searching Techniques:</a:t>
            </a:r>
          </a:p>
          <a:p>
            <a:pPr lvl="1" algn="just">
              <a:lnSpc>
                <a:spcPct val="150000"/>
              </a:lnSpc>
              <a:buFont typeface="Wingdings" charset="2"/>
              <a:buChar char="v"/>
            </a:pPr>
            <a:r>
              <a:rPr lang="en-US" sz="2000" dirty="0"/>
              <a:t>As the number of elements increases (N), time taken to perform the search also increases.</a:t>
            </a:r>
          </a:p>
          <a:p>
            <a:pPr lvl="1" algn="just">
              <a:lnSpc>
                <a:spcPct val="150000"/>
              </a:lnSpc>
              <a:buFont typeface="Wingdings" charset="2"/>
              <a:buChar char="v"/>
            </a:pPr>
            <a:r>
              <a:rPr lang="en-US" sz="2000" dirty="0"/>
              <a:t>This becomes problematic when total number of elements become too large.</a:t>
            </a:r>
            <a:endParaRPr lang="en-US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</a:rPr>
              <a:t>Advantage of Hashing:</a:t>
            </a:r>
            <a:endParaRPr lang="en-US" sz="2000" b="1" dirty="0">
              <a:solidFill>
                <a:srgbClr val="C00000"/>
              </a:solidFill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/>
              <a:t>Unlike other searching techniques, Hashing is extremely efficient.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/>
              <a:t>The time taken by it to perform the search does not depend upon the total number of elements.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/>
              <a:t>Time Complexity is constant, i.e., O(1).</a:t>
            </a:r>
            <a:endParaRPr lang="en-US" sz="2000" b="1" dirty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23690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8F870-25B8-75D2-3E57-1F505048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09DF3-48FB-F4D4-7E93-676B2CF3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F4608-EBEC-BE63-1410-1D7F8F978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Hashing is a well-known search technique to search an element among several elements with constant time complexity.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In Hashing technique, </a:t>
            </a:r>
            <a:r>
              <a:rPr lang="en-US" sz="2400" b="1" dirty="0">
                <a:solidFill>
                  <a:srgbClr val="FF0000"/>
                </a:solidFill>
              </a:rPr>
              <a:t>the hash table </a:t>
            </a:r>
            <a:r>
              <a:rPr lang="en-US" sz="2400" dirty="0">
                <a:solidFill>
                  <a:srgbClr val="002060"/>
                </a:solidFill>
              </a:rPr>
              <a:t>and </a:t>
            </a:r>
            <a:r>
              <a:rPr lang="en-US" sz="2400" b="1" dirty="0">
                <a:solidFill>
                  <a:srgbClr val="FF0000"/>
                </a:solidFill>
              </a:rPr>
              <a:t>hash function </a:t>
            </a:r>
            <a:r>
              <a:rPr lang="en-US" sz="2400" dirty="0">
                <a:solidFill>
                  <a:srgbClr val="002060"/>
                </a:solidFill>
              </a:rPr>
              <a:t>are used. 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Using the hash function, we can calculate the address at which the value can be stored.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Hash table is an array data structure which is used to store the data items.</a:t>
            </a: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695311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87561-1F4B-C45C-A70D-86BA5C71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EDE0-C2DF-2E5F-59FE-62DF0928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Hashing Mechanism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B002423-7300-3950-834B-3E3095CA9A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72" y="2057400"/>
            <a:ext cx="8416077" cy="3976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0955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A6B75-6654-A411-B382-E859AFC3E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26F2B-E021-5BD1-D96C-5E53DAEBF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5A6F2-CD44-29DD-3282-F2D4EC5D4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 lnSpcReduction="10000"/>
          </a:bodyPr>
          <a:lstStyle/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Hash function takes the data item as an input and returns a small integer value as an output. 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The small integer value is called as a hash value. Hash value of the data item is then used as an index for storing it into the hash table. </a:t>
            </a:r>
          </a:p>
          <a:p>
            <a:pPr algn="just">
              <a:spcAft>
                <a:spcPts val="1200"/>
              </a:spcAft>
            </a:pPr>
            <a:r>
              <a:rPr lang="en-US" sz="2400" dirty="0">
                <a:solidFill>
                  <a:srgbClr val="002060"/>
                </a:solidFill>
              </a:rPr>
              <a:t>There are many hash functions that use numeric or alphanumeric keys. Mainly 3 main hash functions are:</a:t>
            </a:r>
          </a:p>
          <a:p>
            <a:pPr marL="914400" lvl="1" indent="-457200" algn="just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Division method</a:t>
            </a:r>
          </a:p>
          <a:p>
            <a:pPr marL="914400" lvl="1" indent="-457200" algn="just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Mid-square method</a:t>
            </a:r>
          </a:p>
          <a:p>
            <a:pPr marL="914400" lvl="1" indent="-457200" algn="just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Folding method</a:t>
            </a:r>
          </a:p>
          <a:p>
            <a:pPr lvl="1" algn="just">
              <a:spcAft>
                <a:spcPts val="1200"/>
              </a:spcAft>
            </a:pPr>
            <a:endParaRPr lang="en-US" sz="2000" dirty="0">
              <a:solidFill>
                <a:srgbClr val="002060"/>
              </a:solidFill>
            </a:endParaRPr>
          </a:p>
          <a:p>
            <a:pPr lvl="1" algn="just">
              <a:spcAft>
                <a:spcPts val="1200"/>
              </a:spcAft>
            </a:pPr>
            <a:endParaRPr lang="en-US" sz="20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411565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5B97-8BB2-EA65-1FAB-F3E50D27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F3A9-699A-3283-9F42-4848EAB7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B5A5C-5AAF-69E4-D0B0-E7A7A435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BCAFEC4-1B9C-B9F9-5AAD-FA267E69C5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b="1" u="sng" dirty="0">
                    <a:solidFill>
                      <a:srgbClr val="FF0000"/>
                    </a:solidFill>
                  </a:rPr>
                  <a:t>Division method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In the division method, the hash function can be defined as: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/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is the key,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the size of hash table (usually a prime number),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</m:oMath>
                </a14:m>
                <a:r>
                  <a:rPr lang="en-US" sz="2400" dirty="0"/>
                  <a:t> is modulo operator(%).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Example: </a:t>
                </a:r>
                <a:r>
                  <a:rPr lang="en-US" sz="2400" dirty="0"/>
                  <a:t>if a hash table has 11 entries (size m), and we want to store key k = 25, then </a:t>
                </a:r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srgbClr val="FF0000"/>
                    </a:solidFill>
                  </a:rPr>
                  <a:t>H(25) = 25 mod 11 = 3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:r>
                  <a:rPr lang="en-US" sz="2400" dirty="0"/>
                  <a:t>So, key 25 will be stored at index 3 in the hash table.</a:t>
                </a:r>
              </a:p>
              <a:p>
                <a:pPr lvl="1" algn="just">
                  <a:spcAft>
                    <a:spcPts val="1200"/>
                  </a:spcAft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lvl="1" algn="just">
                  <a:spcAft>
                    <a:spcPts val="1200"/>
                  </a:spcAft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marL="0" indent="0" algn="just">
                  <a:spcAft>
                    <a:spcPts val="1200"/>
                  </a:spcAft>
                  <a:buFontTx/>
                  <a:buNone/>
                </a:pPr>
                <a:endParaRPr lang="en-US" sz="2400" dirty="0">
                  <a:hlinkClick r:id="rId2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BCAFEC4-1B9C-B9F9-5AAD-FA267E69C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  <a:blipFill>
                <a:blip r:embed="rId3"/>
                <a:stretch>
                  <a:fillRect l="-1049" t="-1050" r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561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3AB9B-13F2-5DF9-3A2A-444DEFBC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063C-B5DB-6A8A-F7AD-C86F1E872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EBA6E-41FC-CDF2-0819-A652255A0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A48D9E9-8C96-5831-0D0D-BDFC135A43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sz="2400" b="1" u="sng" dirty="0">
                    <a:solidFill>
                      <a:srgbClr val="FF0000"/>
                    </a:solidFill>
                  </a:rPr>
                  <a:t>Mid-Square method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Mid-square method involves 2 steps to compute the hash value:</a:t>
                </a:r>
              </a:p>
              <a:p>
                <a:pPr marL="914400" lvl="1" indent="-514350" algn="just">
                  <a:spcAft>
                    <a:spcPts val="1200"/>
                  </a:spcAft>
                  <a:buFont typeface="+mj-lt"/>
                  <a:buAutoNum type="romanUcPeriod"/>
                </a:pPr>
                <a:r>
                  <a:rPr lang="en-US" sz="2000" dirty="0"/>
                  <a:t>Square the value of the key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914400" lvl="1" indent="-514350" algn="just">
                  <a:spcAft>
                    <a:spcPts val="1200"/>
                  </a:spcAft>
                  <a:buFont typeface="+mj-lt"/>
                  <a:buAutoNum type="romanUcPeriod"/>
                </a:pPr>
                <a:r>
                  <a:rPr lang="en-US" sz="2000" dirty="0"/>
                  <a:t>Extract the middle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 digits as the hash value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b="1" dirty="0"/>
                  <a:t>Formula: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𝑒𝑥𝑡𝑟𝑎𝑐𝑡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𝑚𝑖𝑑𝑑𝑙𝑒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𝑑𝑖𝑔𝑖𝑡𝑠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2400" dirty="0"/>
                </a:br>
                <a:r>
                  <a:rPr lang="en-US" sz="2400" dirty="0"/>
                  <a:t>where,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 is the key value. The value of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 can be decided based on the size of the table.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lvl="1" algn="just">
                  <a:spcAft>
                    <a:spcPts val="1200"/>
                  </a:spcAft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lvl="1" algn="just">
                  <a:spcAft>
                    <a:spcPts val="1200"/>
                  </a:spcAft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marL="0" indent="0" algn="just">
                  <a:spcAft>
                    <a:spcPts val="1200"/>
                  </a:spcAft>
                  <a:buFontTx/>
                  <a:buNone/>
                </a:pPr>
                <a:endParaRPr lang="en-US" sz="2400" dirty="0">
                  <a:hlinkClick r:id="rId2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A48D9E9-8C96-5831-0D0D-BDFC135A4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  <a:blipFill>
                <a:blip r:embed="rId3"/>
                <a:stretch>
                  <a:fillRect l="-1049" t="-1050" r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866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BE52-8492-F0ED-0531-A6CCD863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DD01C-609C-4941-CFD3-B1C50458F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E25D1-7541-68BD-CB4B-839C6217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5B3789F-06E0-721B-224E-D9AF56BE27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sz="2400" b="1" u="sng" dirty="0">
                    <a:solidFill>
                      <a:srgbClr val="FF0000"/>
                    </a:solidFill>
                  </a:rPr>
                  <a:t>Mid-Square method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b="1" dirty="0"/>
                  <a:t>Example:</a:t>
                </a:r>
                <a:endParaRPr lang="en-US" sz="2400" dirty="0"/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Suppose the hash table has 100 memory locations. So, r = 2 because two digits are required to map the key to the memory location.</a:t>
                </a:r>
              </a:p>
              <a:p>
                <a:pPr marL="0" indent="0">
                  <a:lnSpc>
                    <a:spcPct val="160000"/>
                  </a:lnSpc>
                  <a:spcAft>
                    <a:spcPts val="1200"/>
                  </a:spcAft>
                  <a:buNone/>
                </a:pPr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=40</m:t>
                    </m:r>
                  </m:oMath>
                </a14:m>
                <a:r>
                  <a:rPr lang="en-US" sz="2400" dirty="0"/>
                  <a:t>, then</a:t>
                </a:r>
                <a:br>
                  <a:rPr lang="en-US" sz="2400" dirty="0"/>
                </a:br>
                <a:br>
                  <a:rPr lang="en-US" sz="2400" i="1" dirty="0">
                    <a:latin typeface="Cambria Math" panose="02040503050406030204" pitchFamily="18" charset="0"/>
                  </a:rPr>
                </a:b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The hash value obtained is 60, so store 40 at index 60.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 algn="just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lvl="1" algn="just">
                  <a:spcAft>
                    <a:spcPts val="1200"/>
                  </a:spcAft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lvl="1" algn="just">
                  <a:spcAft>
                    <a:spcPts val="1200"/>
                  </a:spcAft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marL="0" indent="0" algn="just">
                  <a:spcAft>
                    <a:spcPts val="1200"/>
                  </a:spcAft>
                  <a:buFontTx/>
                  <a:buNone/>
                </a:pPr>
                <a:endParaRPr lang="en-US" sz="2400" dirty="0">
                  <a:hlinkClick r:id="rId2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5B3789F-06E0-721B-224E-D9AF56BE2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  <a:blipFill>
                <a:blip r:embed="rId3"/>
                <a:stretch>
                  <a:fillRect l="-1049" t="-2100" r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807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FD2B-49C8-2D78-0C14-D5B829C33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68747-2736-7152-0600-7B4BF80D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8C428-837C-B84C-351A-91F8DE88E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hlinkClick r:id="rId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338AE43-8A1E-9ABE-AB2F-30E53B4A91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spcAft>
                    <a:spcPts val="1200"/>
                  </a:spcAft>
                  <a:buFont typeface="+mj-lt"/>
                  <a:buAutoNum type="arabicPeriod" startAt="3"/>
                </a:pPr>
                <a:r>
                  <a:rPr lang="en-US" sz="2400" b="1" u="sng" dirty="0">
                    <a:solidFill>
                      <a:srgbClr val="FF0000"/>
                    </a:solidFill>
                  </a:rPr>
                  <a:t>Folding method</a:t>
                </a:r>
                <a:endParaRPr lang="en-US" sz="2400" dirty="0"/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The folding method involves 3 steps: </a:t>
                </a:r>
              </a:p>
              <a:p>
                <a:pPr marL="914400" lvl="1" indent="-514350" algn="just">
                  <a:spcAft>
                    <a:spcPts val="600"/>
                  </a:spcAft>
                  <a:buFont typeface="+mj-lt"/>
                  <a:buAutoNum type="romanLcPeriod"/>
                </a:pPr>
                <a:r>
                  <a:rPr lang="en-US" sz="2000" dirty="0"/>
                  <a:t>Divide the key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) into equal parts</a:t>
                </a:r>
              </a:p>
              <a:p>
                <a:pPr marL="914400" lvl="1" indent="-514350" algn="just">
                  <a:spcAft>
                    <a:spcPts val="600"/>
                  </a:spcAft>
                  <a:buFont typeface="+mj-lt"/>
                  <a:buAutoNum type="romanLcPeriod"/>
                </a:pPr>
                <a:r>
                  <a:rPr lang="en-US" sz="2000" dirty="0"/>
                  <a:t>Sum the parts</a:t>
                </a:r>
              </a:p>
              <a:p>
                <a:pPr marL="914400" lvl="1" indent="-514350" algn="just">
                  <a:spcAft>
                    <a:spcPts val="600"/>
                  </a:spcAft>
                  <a:buFont typeface="+mj-lt"/>
                  <a:buAutoNum type="romanLcPeriod"/>
                </a:pPr>
                <a:r>
                  <a:rPr lang="en-US" sz="2000" dirty="0"/>
                  <a:t>Take the modulo with respect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b="1" dirty="0"/>
                  <a:t>Formula: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Let key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divided into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equal parts,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. Then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err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1" dirty="0" err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/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is size of hash table.</a:t>
                </a:r>
              </a:p>
              <a:p>
                <a:pPr lvl="1" algn="just">
                  <a:spcAft>
                    <a:spcPts val="1200"/>
                  </a:spcAft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lvl="1" algn="just">
                  <a:spcAft>
                    <a:spcPts val="1200"/>
                  </a:spcAft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marL="0" indent="0" algn="just">
                  <a:spcAft>
                    <a:spcPts val="1200"/>
                  </a:spcAft>
                  <a:buFontTx/>
                  <a:buNone/>
                </a:pPr>
                <a:endParaRPr lang="en-US" sz="2400" dirty="0">
                  <a:hlinkClick r:id="rId2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338AE43-8A1E-9ABE-AB2F-30E53B4A9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  <a:blipFill>
                <a:blip r:embed="rId3"/>
                <a:stretch>
                  <a:fillRect l="-1049" t="-1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926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A9810-5F9A-3173-4843-ECBD0212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9B00-7883-CF28-ABBF-4DB2ABA9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AC554-14AD-7FD5-A031-7E09CC757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2400" dirty="0">
                <a:hlinkClick r:id="rId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68F0BCA-5CAE-57F7-0159-4D7A86E618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spcAft>
                    <a:spcPts val="1200"/>
                  </a:spcAft>
                  <a:buFont typeface="+mj-lt"/>
                  <a:buAutoNum type="arabicPeriod" startAt="3"/>
                </a:pPr>
                <a:r>
                  <a:rPr lang="en-US" sz="2400" b="1" u="sng" dirty="0">
                    <a:solidFill>
                      <a:srgbClr val="FF0000"/>
                    </a:solidFill>
                  </a:rPr>
                  <a:t>Folding method</a:t>
                </a:r>
                <a:endParaRPr lang="en-US" sz="2400" dirty="0"/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b="1" dirty="0"/>
                  <a:t>Example: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K=123456789, m = 10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Then we can divide key into 2 or 3 or 4 equal parts. Let’s divide the key into 3 equal parts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=123,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=456,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=789</m:t>
                    </m:r>
                  </m:oMath>
                </a14:m>
                <a:endParaRPr lang="en-US" sz="2400" b="0" dirty="0"/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/>
                  <a:t>Then,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123456789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123+456+789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10</m:t>
                    </m:r>
                  </m:oMath>
                </a14:m>
                <a:endParaRPr lang="en-US" sz="2400" b="0" dirty="0"/>
              </a:p>
              <a:p>
                <a:pPr marL="0" indent="0" algn="just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1368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10=8</m:t>
                      </m:r>
                    </m:oMath>
                  </m:oMathPara>
                </a14:m>
                <a:endParaRPr lang="en-US" sz="2400" dirty="0"/>
              </a:p>
              <a:p>
                <a:pPr marL="457200" lvl="1" indent="0" algn="just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srgbClr val="002060"/>
                    </a:solidFill>
                  </a:rPr>
                  <a:t>Hence, 123456789 is inserted into the hash table at address 8.</a:t>
                </a:r>
              </a:p>
              <a:p>
                <a:pPr lvl="1" algn="just">
                  <a:spcAft>
                    <a:spcPts val="1200"/>
                  </a:spcAft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algn="just">
                  <a:spcAft>
                    <a:spcPts val="1200"/>
                  </a:spcAft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pPr marL="0" indent="0" algn="just">
                  <a:spcAft>
                    <a:spcPts val="1200"/>
                  </a:spcAft>
                  <a:buFontTx/>
                  <a:buNone/>
                </a:pPr>
                <a:endParaRPr lang="en-US" sz="2400" dirty="0">
                  <a:hlinkClick r:id="rId2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68F0BCA-5CAE-57F7-0159-4D7A86E61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  <a:blipFill>
                <a:blip r:embed="rId3"/>
                <a:stretch>
                  <a:fillRect l="-1049" t="-1050" r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097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C641-6050-B38A-BC4A-817B08F9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049E-34A9-4EA8-0C04-022E6795B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Collision in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D4107-839F-9372-9785-BB72C7EF4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2400" dirty="0">
                <a:hlinkClick r:id="rId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E54C795-38F1-CA6A-884D-54D68181CF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srgbClr val="002060"/>
                    </a:solidFill>
                  </a:rPr>
                  <a:t>In hashing, Hash function may return the same hash value for two or more keys.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srgbClr val="002060"/>
                    </a:solidFill>
                  </a:rPr>
                  <a:t>For Example: Let us suppose Division method of hashing.</a:t>
                </a:r>
              </a:p>
              <a:p>
                <a:pPr marL="400050" lvl="1" indent="0" algn="just">
                  <a:spcAft>
                    <a:spcPts val="1200"/>
                  </a:spcAft>
                  <a:buNone/>
                </a:pPr>
                <a:r>
                  <a:rPr lang="en-US" sz="2200" dirty="0">
                    <a:solidFill>
                      <a:srgbClr val="C00000"/>
                    </a:solidFill>
                  </a:rPr>
                  <a:t>Hash function is: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and size m = 10</a:t>
                </a:r>
              </a:p>
              <a:p>
                <a:pPr marL="400050" lvl="1" indent="0" algn="just">
                  <a:spcAft>
                    <a:spcPts val="1200"/>
                  </a:spcAft>
                  <a:buNone/>
                </a:pPr>
                <a:r>
                  <a:rPr lang="en-US" sz="2200" dirty="0">
                    <a:solidFill>
                      <a:srgbClr val="FF0000"/>
                    </a:solidFill>
                  </a:rPr>
                  <a:t>Then for keys k = 1,11, 21, 31, …, it always return 1</a:t>
                </a:r>
                <a:r>
                  <a:rPr lang="en-US" sz="2000" dirty="0">
                    <a:solidFill>
                      <a:srgbClr val="FF0000"/>
                    </a:solidFill>
                  </a:rPr>
                  <a:t>.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srgbClr val="002060"/>
                    </a:solidFill>
                  </a:rPr>
                  <a:t>When the hash value of a key maps to an already occupied bucket of the hash table, it is </a:t>
                </a:r>
                <a:r>
                  <a:rPr lang="en-US" sz="2400" dirty="0">
                    <a:solidFill>
                      <a:srgbClr val="FF0000"/>
                    </a:solidFill>
                  </a:rPr>
                  <a:t>called as a Collision</a:t>
                </a:r>
                <a:r>
                  <a:rPr lang="en-US" sz="24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E54C795-38F1-CA6A-884D-54D68181C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7" y="1943258"/>
                <a:ext cx="8458200" cy="4830763"/>
              </a:xfrm>
              <a:prstGeom prst="rect">
                <a:avLst/>
              </a:prstGeom>
              <a:blipFill>
                <a:blip r:embed="rId3"/>
                <a:stretch>
                  <a:fillRect l="-1049" t="-1050" r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826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5886E-2702-A438-72B9-1B1C9933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5D96-35AC-7E20-B80A-35DA861A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1036636"/>
            <a:ext cx="8229600" cy="4111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to Resolve Collision?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E4A5E-AB06-1137-5D3E-B89E343A9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790858"/>
            <a:ext cx="8458200" cy="483076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2400" dirty="0">
                <a:hlinkClick r:id="rId2"/>
              </a:rPr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39C513-F357-329E-90F0-1C6C53E0ED50}"/>
              </a:ext>
            </a:extLst>
          </p:cNvPr>
          <p:cNvSpPr txBox="1">
            <a:spLocks/>
          </p:cNvSpPr>
          <p:nvPr/>
        </p:nvSpPr>
        <p:spPr>
          <a:xfrm>
            <a:off x="349827" y="1905000"/>
            <a:ext cx="8458200" cy="48307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1200"/>
              </a:spcAft>
              <a:buNone/>
            </a:pPr>
            <a:r>
              <a:rPr lang="en-US" sz="2400" dirty="0">
                <a:solidFill>
                  <a:srgbClr val="FF0000"/>
                </a:solidFill>
              </a:rPr>
              <a:t>Collision Resolution Techniques </a:t>
            </a:r>
            <a:r>
              <a:rPr lang="en-US" sz="2400" dirty="0">
                <a:solidFill>
                  <a:srgbClr val="002060"/>
                </a:solidFill>
              </a:rPr>
              <a:t>are the techniques used for resolving or handling the collision.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4A24B-FAFA-1D2B-9E6F-7D45B913E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736" y="2815936"/>
            <a:ext cx="5254528" cy="380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45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3933825"/>
            <a:ext cx="7154862" cy="14763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sz="3600" dirty="0">
                <a:solidFill>
                  <a:srgbClr val="C00000"/>
                </a:solidFill>
              </a:rPr>
            </a:b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838200" y="5040312"/>
            <a:ext cx="705643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789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1808163" cy="329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952625" y="5957888"/>
            <a:ext cx="7156450" cy="114300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auto">
              <a:spcAft>
                <a:spcPts val="0"/>
              </a:spcAft>
              <a:defRPr/>
            </a:pP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895" name="Date Placeholder 3"/>
          <p:cNvSpPr>
            <a:spLocks noGrp="1"/>
          </p:cNvSpPr>
          <p:nvPr>
            <p:ph type="dt" sz="quarter" idx="4294967295"/>
          </p:nvPr>
        </p:nvSpPr>
        <p:spPr bwMode="auto">
          <a:xfrm>
            <a:off x="179388" y="6519863"/>
            <a:ext cx="512286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IN" altLang="en-US" sz="1400" dirty="0">
              <a:solidFill>
                <a:srgbClr val="898989"/>
              </a:solidFill>
              <a:latin typeface="Tahoma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96429-9936-28D0-9822-2093F9C16846}"/>
              </a:ext>
            </a:extLst>
          </p:cNvPr>
          <p:cNvSpPr txBox="1"/>
          <p:nvPr/>
        </p:nvSpPr>
        <p:spPr>
          <a:xfrm>
            <a:off x="3581400" y="2221003"/>
            <a:ext cx="4191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Thank you.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250790653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16734</TotalTime>
  <Words>1765</Words>
  <Application>Microsoft Macintosh PowerPoint</Application>
  <PresentationFormat>On-screen Show (4:3)</PresentationFormat>
  <Paragraphs>258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Cambria Math</vt:lpstr>
      <vt:lpstr>Courier New</vt:lpstr>
      <vt:lpstr>Tahoma</vt:lpstr>
      <vt:lpstr>Times New Roman</vt:lpstr>
      <vt:lpstr>Wingdings</vt:lpstr>
      <vt:lpstr>Default Design</vt:lpstr>
      <vt:lpstr>Dictionaries and Hashing   CSE645 (PG) (Advanced Data Structures MODULE I) </vt:lpstr>
      <vt:lpstr>PowerPoint Presentation</vt:lpstr>
      <vt:lpstr>Dictionaries Basics   CSE645 (PG) (Advanced Data Structures MODULE I) </vt:lpstr>
      <vt:lpstr>Dictionary: Definition</vt:lpstr>
      <vt:lpstr>Significance of Dictionary</vt:lpstr>
      <vt:lpstr>Dictionary: Real World Examples</vt:lpstr>
      <vt:lpstr>Dictionary: Abstract Data Type</vt:lpstr>
      <vt:lpstr>Dictionary: Abstract Data Type</vt:lpstr>
      <vt:lpstr>Implementation of Dictionary</vt:lpstr>
      <vt:lpstr>Dictionary: Array Implementation</vt:lpstr>
      <vt:lpstr>Dictionary: Hash Table Implementation (Most common)</vt:lpstr>
      <vt:lpstr>Dictionary: BST Implementation</vt:lpstr>
      <vt:lpstr>Hashing Basics   CSE645 (PG) (Advanced Data Structures MODULE I) </vt:lpstr>
      <vt:lpstr>Need of Hashing</vt:lpstr>
      <vt:lpstr>Hashing Vs Other Search</vt:lpstr>
      <vt:lpstr>Hashing</vt:lpstr>
      <vt:lpstr>Hashing Mechanism</vt:lpstr>
      <vt:lpstr>Types of Hash Function</vt:lpstr>
      <vt:lpstr>Types of Hash Function</vt:lpstr>
      <vt:lpstr>Types of Hash Function</vt:lpstr>
      <vt:lpstr>Types of Hash Function</vt:lpstr>
      <vt:lpstr>Types of Hash Function</vt:lpstr>
      <vt:lpstr>Types of Hash Function</vt:lpstr>
      <vt:lpstr>Collision in Hashing</vt:lpstr>
      <vt:lpstr>How to Resolve Collision?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schandra</dc:creator>
  <cp:lastModifiedBy>Ajay Rastogy</cp:lastModifiedBy>
  <cp:revision>157</cp:revision>
  <dcterms:created xsi:type="dcterms:W3CDTF">2008-12-16T09:40:48Z</dcterms:created>
  <dcterms:modified xsi:type="dcterms:W3CDTF">2026-01-14T05:53:18Z</dcterms:modified>
</cp:coreProperties>
</file>